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3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8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6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73.xml" ContentType="application/vnd.openxmlformats-officedocument.theme+xml"/>
  <Override PartName="/ppt/theme/theme24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5.xml" ContentType="application/vnd.openxmlformats-officedocument.theme+xml"/>
  <Override PartName="/ppt/theme/theme64.xml" ContentType="application/vnd.openxmlformats-officedocument.theme+xml"/>
  <Override PartName="/ppt/theme/theme63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_rels/presentation.xml.rels" ContentType="application/vnd.openxmlformats-package.relationships+xml"/>
  <Override PartName="/ppt/media/image11.png" ContentType="image/png"/>
  <Override PartName="/ppt/media/image2.png" ContentType="image/png"/>
  <Override PartName="/ppt/media/image8.jpeg" ContentType="image/jpeg"/>
  <Override PartName="/ppt/media/image15.png" ContentType="image/png"/>
  <Override PartName="/ppt/media/image7.gif" ContentType="image/gif"/>
  <Override PartName="/ppt/media/image14.png" ContentType="image/png"/>
  <Override PartName="/ppt/media/image1.png" ContentType="image/png"/>
  <Override PartName="/ppt/media/image16.png" ContentType="image/png"/>
  <Override PartName="/ppt/media/image4.gif" ContentType="image/gif"/>
  <Override PartName="/ppt/media/image12.png" ContentType="image/png"/>
  <Override PartName="/ppt/media/image3.png" ContentType="image/png"/>
  <Override PartName="/ppt/media/image17.png" ContentType="image/png"/>
  <Override PartName="/ppt/media/image5.gif" ContentType="image/gif"/>
  <Override PartName="/ppt/media/image13.png" ContentType="image/png"/>
  <Override PartName="/ppt/media/image10.jpeg" ContentType="image/jpeg"/>
  <Override PartName="/ppt/media/image6.gif" ContentType="image/gif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</p:sldMasterIdLst>
  <p:notesMasterIdLst>
    <p:notesMasterId r:id="rId74"/>
  </p:notesMasterIdLst>
  <p:sldIdLst>
    <p:sldId id="256" r:id="rId75"/>
    <p:sldId id="257" r:id="rId76"/>
    <p:sldId id="258" r:id="rId77"/>
    <p:sldId id="259" r:id="rId78"/>
    <p:sldId id="260" r:id="rId79"/>
    <p:sldId id="261" r:id="rId80"/>
    <p:sldId id="262" r:id="rId81"/>
    <p:sldId id="263" r:id="rId8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notesMaster" Target="notesMasters/notesMaster1.xml"/><Relationship Id="rId75" Type="http://schemas.openxmlformats.org/officeDocument/2006/relationships/slide" Target="slides/slide1.xml"/><Relationship Id="rId76" Type="http://schemas.openxmlformats.org/officeDocument/2006/relationships/slide" Target="slides/slide2.xml"/><Relationship Id="rId77" Type="http://schemas.openxmlformats.org/officeDocument/2006/relationships/slide" Target="slides/slide3.xml"/><Relationship Id="rId78" Type="http://schemas.openxmlformats.org/officeDocument/2006/relationships/slide" Target="slides/slide4.xml"/><Relationship Id="rId79" Type="http://schemas.openxmlformats.org/officeDocument/2006/relationships/slide" Target="slides/slide5.xml"/><Relationship Id="rId80" Type="http://schemas.openxmlformats.org/officeDocument/2006/relationships/slide" Target="slides/slide6.xml"/><Relationship Id="rId81" Type="http://schemas.openxmlformats.org/officeDocument/2006/relationships/slide" Target="slides/slide7.xml"/><Relationship Id="rId82" Type="http://schemas.openxmlformats.org/officeDocument/2006/relationships/slide" Target="slides/slide8.xml"/><Relationship Id="rId8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 type="dt" idx="8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PlaceHolder 5"/>
          <p:cNvSpPr>
            <a:spLocks noGrp="1"/>
          </p:cNvSpPr>
          <p:nvPr>
            <p:ph type="ftr" idx="8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PlaceHolder 6"/>
          <p:cNvSpPr>
            <a:spLocks noGrp="1"/>
          </p:cNvSpPr>
          <p:nvPr>
            <p:ph type="sldNum" idx="8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4DF74E0-B3DE-477D-BB1F-08214DCF9F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83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98A184-2745-4108-BF83-DC896E640209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84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3292E4-D6CA-46FD-8E28-162259C0EFE0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85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5E6264-8C7F-4153-BCE3-EC36E0929C7F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86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E1F6D4-8379-44DA-8001-CAFF60A35CB7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87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55D1E5-84E0-461D-BA3C-5D3240D3A9AD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88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4452ED-5D9A-47AC-A8B8-BED6A00A58C1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1704960" y="685440"/>
            <a:ext cx="3447720" cy="343080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440" y="4344120"/>
            <a:ext cx="5487120" cy="41137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89"/>
          </p:nvPr>
        </p:nvSpPr>
        <p:spPr>
          <a:xfrm>
            <a:off x="3885120" y="868464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D39ED2-EB40-4DEB-A2AE-25CB7A1401FA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B605C3C-F8D1-4816-8E08-C3021597956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6EC33F-9605-413B-87A0-FD5498338AE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25134-7B01-48E3-8E1E-ABEC8D528B0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EDC1602-8326-4249-BD6B-66810245984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D5210D-7796-4352-899E-A4E16C3B821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99459E-A0F5-4F15-889D-54436D012A4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CE989D0-409E-4DBD-BD8B-07DC56F4075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7443A50-1638-49FE-9DE5-4E6391F2CA4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72D2BDC-F5C8-4AAD-A0C7-80F91E6905A4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A979720-C85B-4BE5-97BE-4B35525AC5A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484A593-BDD5-4CAF-9335-7386F78FAEF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1BDACF4-FDC8-47ED-BD1D-0EF3B1B962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6253FB-0FE7-4C4A-9DD2-391645476FF1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D7B2275-8005-4944-8CAC-26F90848751B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C495B80A-E9ED-4351-A31F-025FB6EBF38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7B63298-1B06-4A8B-B410-17ADB22FF81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8B5B16D-4EB5-4D2C-8B98-0BD7FF1D4617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EX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OBJECT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_OneColumn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C40D8F7-23F6-4631-A4B2-CBAA04F40EF6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63B78C-DC7B-4C4D-9917-D7E2DBD7FB3D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D1648EF-E033-4602-AC2D-C9D2D7020BF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583BD676-0F2A-43D8-B510-29190F32F6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86919A6-E9C8-4466-9650-963E245E4AEF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3863A88-6420-47FE-BB21-920A7A91B352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FA81157-5502-4015-B3E6-59738C905E2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697EFBD-A4B3-4495-86B7-C7DA33E99386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14704B01-374E-42CD-8D6C-2D1BD6F7E8A0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484F425-3881-4D72-BE9B-1CFEA5A321C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C3B6ED6-F1DD-4D9A-819F-EA9523087D9C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97F3665C-A1E2-4460-8733-C4FB5443370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FB35173-0E07-4801-895E-74BBC0731D3E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8B77352D-C0EA-4182-A7C4-95A284E0121D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with R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CAB4EC34-999C-4CC8-A74A-6E0F3BE1232C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103711C-3604-4524-9839-7CDC7251E9E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2693808E-902F-4D09-BBCA-D64003BD35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E9C0D43-42B6-4316-A556-B1E5A9CECF7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CD8480B-586A-4AAB-8D07-8E8F72ADA8A2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613BD923-E13D-4C73-98C4-FF7C83E864C6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95403B86-29F9-4322-BC0F-19CD4E324081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9EE2E060-1F90-4A22-B287-B38F7F595C92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0E6A6525-1BB1-433C-B3B9-F7FFB37E4871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88CDEC31-D8C7-4947-93D9-A5F3134B7D2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422D4DAA-3BAA-49D3-81BC-4A9D003F3EC9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6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7E5CF45C-93AB-4201-80C0-603119055C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EFE3EC4E-7E3C-46D4-AB9E-19A28190811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6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1847382B-B1B8-4E27-A278-A38D8834ECCB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CDAB509C-9F51-4F37-9EB6-17AD0ED1F373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B6953B7D-EC81-4592-870D-E4C3C40FD3E9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80A4B142-FC62-4D79-B7A7-F31B6B8047FB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A8C04B53-0B81-4E55-8612-FDB2EE38224F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D1B97DC1-3C2C-4BEA-9E9D-523547ADE19E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834EAE9A-FFF3-4E76-8D32-3599FD471313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7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EAF72B62-8C95-4CDB-8DB7-F7B17005E1C7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5BDE4810-5DAF-475C-93A9-47EDACBE29E8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9E8444A1-44F5-42FD-A593-DB0E9E4A4189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99B6389F-76BB-4EC9-B627-4738065A50F9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9"/>
          </p:nvPr>
        </p:nvSpPr>
        <p:spPr/>
        <p:txBody>
          <a:bodyPr/>
          <a:p>
            <a:fld id="{F99ED519-B39C-4B2D-887E-78EEF483BD7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4.gif"/><Relationship Id="rId6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gif"/><Relationship Id="rId5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image" Target="../media/image8.jpe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4.gif"/><Relationship Id="rId6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image" Target="../media/image10.jpe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B71D89-42C2-4345-80DC-9412CD9AD20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40540F-A6EE-459B-9AE7-22A093FBD5B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BC327D-A277-4D33-BADD-B8DD5A1FA12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178D6D-5FA6-4AB4-A132-15D2BC8CF41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633C0E-B667-47C8-87A5-D4FDB1516C5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92991B-8AD5-4169-A0D6-3A13B630BEC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20799C-EE8C-4862-832C-4050CFCCAC9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FCB6AA-36AC-49FE-9FA2-2297F85B192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889261-0DDB-437B-A132-29A49B7DFB5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3A5334-D436-436C-A2C1-3BD7CCED201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03CD12-B945-4B86-AF1A-10DD370440E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2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3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7668443-96FC-4931-9455-CF39448DEE7E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dt" idx="14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5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E972538-8B57-4CC2-AE75-4EED89B8D57F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indent="0">
              <a:buNone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6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7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0886C15-7E98-4011-9F99-948FEF1A7585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indent="0">
              <a:buNone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8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9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58516AB-F9BB-4DD4-B4BB-C70B61F49317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 rot="5400000">
            <a:off x="3029040" y="-856800"/>
            <a:ext cx="3085920" cy="7772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0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1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801DEC5-5CCE-4F03-B729-7FE54B8FA3DE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 rot="5400000">
            <a:off x="5429520" y="1542960"/>
            <a:ext cx="4114440" cy="1942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 rot="5400000">
            <a:off x="1467000" y="-323640"/>
            <a:ext cx="4114440" cy="5676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22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23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257C752-5584-463F-B4D2-1EC784AD16CA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76440" y="457200"/>
            <a:ext cx="784836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76440" y="150012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6760" y="150012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676760" y="310032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66720" y="442800"/>
            <a:ext cx="784836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1016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1016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85800" y="442800"/>
            <a:ext cx="784836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9516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9584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69584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76440" y="457200"/>
            <a:ext cx="784836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1016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pic>
        <p:nvPicPr>
          <p:cNvPr id="103" name="Google Shape;57;p14" descr="IEEE_TAG_BLUE.png"/>
          <p:cNvPicPr/>
          <p:nvPr/>
        </p:nvPicPr>
        <p:blipFill>
          <a:blip r:embed="rId4"/>
          <a:stretch/>
        </p:blipFill>
        <p:spPr>
          <a:xfrm>
            <a:off x="7772400" y="4514760"/>
            <a:ext cx="1142640" cy="480600"/>
          </a:xfrm>
          <a:prstGeom prst="rect">
            <a:avLst/>
          </a:prstGeom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95280" y="616680"/>
            <a:ext cx="716256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Google Shape;60;p14" descr=""/>
          <p:cNvPicPr/>
          <p:nvPr/>
        </p:nvPicPr>
        <p:blipFill>
          <a:blip r:embed="rId5"/>
          <a:stretch/>
        </p:blipFill>
        <p:spPr>
          <a:xfrm>
            <a:off x="84240" y="4400280"/>
            <a:ext cx="818280" cy="59220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6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97720" y="424080"/>
            <a:ext cx="8530920" cy="39060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297720" y="978840"/>
            <a:ext cx="8530920" cy="349812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Google Shape;64;p15" descr=""/>
          <p:cNvPicPr/>
          <p:nvPr/>
        </p:nvPicPr>
        <p:blipFill>
          <a:blip r:embed="rId4"/>
          <a:stretch/>
        </p:blipFill>
        <p:spPr>
          <a:xfrm>
            <a:off x="84240" y="4400280"/>
            <a:ext cx="818280" cy="592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5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777204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4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5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F973FDC-D11E-4289-AF03-B03255280366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777204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26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27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FB4641-8700-446E-B037-123BBA2D620B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28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sldNum" idx="29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28EE85-C892-4DD9-A75D-27DC3D9FFC53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4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380952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48320" y="1486080"/>
            <a:ext cx="380952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30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31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0C1216-4E72-4CCF-8A56-4233BD7A35C0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55;p13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dt" idx="32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7"/>
          <p:cNvSpPr>
            <a:spLocks noGrp="1"/>
          </p:cNvSpPr>
          <p:nvPr>
            <p:ph type="sldNum" idx="33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11AC7DE-3D2E-4AA6-9FE7-24AE16B368BE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1FBB31BA-77FA-493D-89B8-4644A7DF130D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34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DC321E7-7BF1-4F45-9FCB-53607BB42D51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5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1371230-A153-47A1-B0E6-13B60F05ED07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54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55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35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41870C-C230-47C5-BCC7-ED03F1F1A51F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5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D8E1D0B2-B4C5-420E-AEF0-5500B293D2D7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61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62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2249640" cy="22496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182;p40"/>
          <p:cNvSpPr/>
          <p:nvPr/>
        </p:nvSpPr>
        <p:spPr>
          <a:xfrm>
            <a:off x="1371600" y="4800600"/>
            <a:ext cx="6400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Symposia on VLSI Technology and Circuits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36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F27C12-848D-44EC-842E-597036EF01E4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7C6A5A2-3160-4671-A26C-3A3BC84B0E90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69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ldNum" idx="37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00E90CE-1A85-4E35-B030-181963085F66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E36833D-98B0-47D7-B282-3E04062A7E62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76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77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7240"/>
            <a:ext cx="8229240" cy="799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800280"/>
            <a:ext cx="8229240" cy="4162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Google Shape;191;p42" descr=""/>
          <p:cNvPicPr/>
          <p:nvPr/>
        </p:nvPicPr>
        <p:blipFill>
          <a:blip r:embed="rId5"/>
          <a:stretch/>
        </p:blipFill>
        <p:spPr>
          <a:xfrm>
            <a:off x="78840" y="4819680"/>
            <a:ext cx="2067480" cy="264960"/>
          </a:xfrm>
          <a:prstGeom prst="rect">
            <a:avLst/>
          </a:prstGeom>
          <a:ln w="0">
            <a:noFill/>
          </a:ln>
        </p:spPr>
      </p:pic>
      <p:sp>
        <p:nvSpPr>
          <p:cNvPr id="181" name="PlaceHolder 3"/>
          <p:cNvSpPr>
            <a:spLocks noGrp="1"/>
          </p:cNvSpPr>
          <p:nvPr>
            <p:ph type="sldNum" idx="3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D79D38A-A57F-446B-99D4-B0594BACFA2D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2" name="Google Shape;193;p42" descr=""/>
          <p:cNvPicPr/>
          <p:nvPr/>
        </p:nvPicPr>
        <p:blipFill>
          <a:blip r:embed="rId6"/>
          <a:stretch/>
        </p:blipFill>
        <p:spPr>
          <a:xfrm>
            <a:off x="6685920" y="4395240"/>
            <a:ext cx="1616760" cy="6894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7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EDB4AC7-9A7D-4F80-9712-A9DB909FA326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87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88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27F388-9F0A-4AA7-A553-C0BBFA7537A3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5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3D732843-30B5-4EE8-8F3D-5B12A52BB3E4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196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197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5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CC5A5D8-8F7C-4F97-9DEA-129D44130A9E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02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03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297720" y="424080"/>
            <a:ext cx="8530920" cy="39060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297720" y="978840"/>
            <a:ext cx="8530920" cy="349812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5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E0F49F3-5BF4-4EC2-9111-61CA5A8EF228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08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ldNum" idx="40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097DBBC-CC93-4428-93E4-08DEC1C28755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5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2D6D26D-8D88-4CF5-8789-7FC8744230B4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15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16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D761021-C014-4BAF-8E72-45D6F0BA7CA3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5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83F9718-ED36-4F54-A03C-F2E991CE7AAF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24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25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42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0169B51-E93B-4560-9655-751693BB0804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5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861E200-E165-4DD5-8EDE-701642BB2F3D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31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32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33" name="PlaceHolder 1"/>
          <p:cNvSpPr>
            <a:spLocks noGrp="1"/>
          </p:cNvSpPr>
          <p:nvPr>
            <p:ph type="body"/>
          </p:nvPr>
        </p:nvSpPr>
        <p:spPr>
          <a:xfrm>
            <a:off x="695520" y="4505400"/>
            <a:ext cx="6162120" cy="245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 fontScale="299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3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8A0393-6B3D-4C53-A2C9-CD9E4F7714B1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5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144;p31"/>
          <p:cNvSpPr/>
          <p:nvPr/>
        </p:nvSpPr>
        <p:spPr>
          <a:xfrm>
            <a:off x="284760" y="4628520"/>
            <a:ext cx="154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5FC67204-D7B5-445A-BC33-15A69398A323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Google Shape;145;p31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239" name="Google Shape;146;p31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240" name="Google Shape;147;p31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104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ldNum" idx="44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823AF38-A2B0-43F5-80CE-AE9092083E09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5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dt" idx="45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6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7F4F5D-D785-4054-8275-57DE739139B1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4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51" name="PlaceHolder 1"/>
          <p:cNvSpPr>
            <a:spLocks noGrp="1"/>
          </p:cNvSpPr>
          <p:nvPr>
            <p:ph type="dt" idx="47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ldNum" idx="48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168D793-4194-48FC-9AD1-3B33D80B0A3C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4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8160" cy="871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indent="0">
              <a:buNone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8160" cy="3517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dt" idx="49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sldNum" idx="50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5C20D6-357F-43BA-A534-DB30FF02252F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4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indent="0">
              <a:buNone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51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52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462DFEC-FFF4-42E7-A883-FDB4DBB48EC5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4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 rot="5400000">
            <a:off x="3029040" y="-856800"/>
            <a:ext cx="3085920" cy="7772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dt" idx="53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sldNum" idx="54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9290E53-5AC3-4809-B2A2-A8F5FE357FED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4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 rot="5400000">
            <a:off x="5429520" y="1542960"/>
            <a:ext cx="4114440" cy="1942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 rot="5400000">
            <a:off x="1467000" y="-323640"/>
            <a:ext cx="4114440" cy="5676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dt" idx="55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56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8A4F07-BB19-4CC6-94E1-3BA47CC560D2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4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6440" y="457200"/>
            <a:ext cx="784836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76440" y="150012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4676760" y="150012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body"/>
          </p:nvPr>
        </p:nvSpPr>
        <p:spPr>
          <a:xfrm>
            <a:off x="4676760" y="310032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4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66720" y="442800"/>
            <a:ext cx="784836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461016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body"/>
          </p:nvPr>
        </p:nvSpPr>
        <p:spPr>
          <a:xfrm>
            <a:off x="461016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4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85800" y="442800"/>
            <a:ext cx="784836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9516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4695840" y="14860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4695840" y="3086280"/>
            <a:ext cx="3847680" cy="14857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4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76440" y="457200"/>
            <a:ext cx="784836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4610160" y="1486080"/>
            <a:ext cx="384768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4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pic>
        <p:nvPicPr>
          <p:cNvPr id="314" name="Google Shape;206;p46" descr="IEEE_TAG_BLUE.png"/>
          <p:cNvPicPr/>
          <p:nvPr/>
        </p:nvPicPr>
        <p:blipFill>
          <a:blip r:embed="rId4"/>
          <a:stretch/>
        </p:blipFill>
        <p:spPr>
          <a:xfrm>
            <a:off x="7772400" y="4514760"/>
            <a:ext cx="1142640" cy="480600"/>
          </a:xfrm>
          <a:prstGeom prst="rect">
            <a:avLst/>
          </a:prstGeom>
          <a:ln w="0">
            <a:noFill/>
          </a:ln>
        </p:spPr>
      </p:pic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295280" y="616680"/>
            <a:ext cx="716256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Google Shape;209;p46" descr=""/>
          <p:cNvPicPr/>
          <p:nvPr/>
        </p:nvPicPr>
        <p:blipFill>
          <a:blip r:embed="rId5"/>
          <a:stretch/>
        </p:blipFill>
        <p:spPr>
          <a:xfrm>
            <a:off x="84240" y="4400280"/>
            <a:ext cx="818280" cy="5922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6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97720" y="424080"/>
            <a:ext cx="8530920" cy="39096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297720" y="978840"/>
            <a:ext cx="8530920" cy="349812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777204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dt" idx="57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sldNum" idx="58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2832FAF-6F53-478B-BB3D-05D4D90B3CA5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4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777204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dt" idx="59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sldNum" idx="60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D580890-4F3B-47CD-880F-C8B8354B1960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4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50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dt" idx="61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sldNum" idx="62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0EE25DD-3703-4C91-8EDD-C52645097150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4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0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1486080"/>
            <a:ext cx="380952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4648320" y="1486080"/>
            <a:ext cx="3809520" cy="3085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dt" idx="63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 type="sldNum" idx="64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074D780-B0F6-4D7A-9073-24EA59B59EB4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4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204;p45" descr="IEEE_TAG_BLUE.png"/>
          <p:cNvPicPr/>
          <p:nvPr/>
        </p:nvPicPr>
        <p:blipFill>
          <a:blip r:embed="rId3"/>
          <a:stretch/>
        </p:blipFill>
        <p:spPr>
          <a:xfrm>
            <a:off x="8001000" y="4443480"/>
            <a:ext cx="914040" cy="384120"/>
          </a:xfrm>
          <a:prstGeom prst="rect">
            <a:avLst/>
          </a:prstGeom>
          <a:ln w="0">
            <a:noFill/>
          </a:ln>
        </p:spPr>
      </p:pic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6"/>
          <p:cNvSpPr>
            <a:spLocks noGrp="1"/>
          </p:cNvSpPr>
          <p:nvPr>
            <p:ph type="dt" idx="65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PlaceHolder 7"/>
          <p:cNvSpPr>
            <a:spLocks noGrp="1"/>
          </p:cNvSpPr>
          <p:nvPr>
            <p:ph type="sldNum" idx="66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485534-02E8-4447-8D31-8ED96F1167D3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4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31DEC29-D1E0-4DDF-87D1-525358AEEDCE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57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58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Num" idx="67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9784F88-DC2B-47F2-9CF2-6CF4A153779F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5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160D083-4F48-4A67-889A-761ECFECBB0A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3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64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65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ldNum" idx="68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0ECEF63-CC32-4A71-91EE-EE65BB9DBD21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5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6F3864D-A152-4A5E-A323-E6FC633E3007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0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71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72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2249640" cy="22496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Google Shape;330;p72"/>
          <p:cNvSpPr/>
          <p:nvPr/>
        </p:nvSpPr>
        <p:spPr>
          <a:xfrm>
            <a:off x="1371600" y="4800600"/>
            <a:ext cx="6400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Symposia on VLSI Technology and Circuits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ldNum" idx="69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90F0A51-BE5E-4CF2-866F-C2118FE2D00E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5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53836CF3-312B-421D-94D2-06100AE1201F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79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80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sldNum" idx="70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29947F5-5D59-41C1-A1F5-972DD98B5401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5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0AC3548-7CEC-4F6F-8306-67882CD991BC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86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87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457200" y="57240"/>
            <a:ext cx="8229240" cy="799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457200" y="800280"/>
            <a:ext cx="8229240" cy="4162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Google Shape;339;p74" descr=""/>
          <p:cNvPicPr/>
          <p:nvPr/>
        </p:nvPicPr>
        <p:blipFill>
          <a:blip r:embed="rId5"/>
          <a:stretch/>
        </p:blipFill>
        <p:spPr>
          <a:xfrm>
            <a:off x="78840" y="4819680"/>
            <a:ext cx="2067480" cy="264960"/>
          </a:xfrm>
          <a:prstGeom prst="rect">
            <a:avLst/>
          </a:prstGeom>
          <a:ln w="0">
            <a:noFill/>
          </a:ln>
        </p:spPr>
      </p:pic>
      <p:sp>
        <p:nvSpPr>
          <p:cNvPr id="391" name="PlaceHolder 3"/>
          <p:cNvSpPr>
            <a:spLocks noGrp="1"/>
          </p:cNvSpPr>
          <p:nvPr>
            <p:ph type="sldNum" idx="7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01D0B59-16A3-4145-84CF-24A7DA3D598D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92" name="Google Shape;341;p74" descr=""/>
          <p:cNvPicPr/>
          <p:nvPr/>
        </p:nvPicPr>
        <p:blipFill>
          <a:blip r:embed="rId6"/>
          <a:stretch/>
        </p:blipFill>
        <p:spPr>
          <a:xfrm>
            <a:off x="6685920" y="4395240"/>
            <a:ext cx="1616760" cy="6894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7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27C25F9-E2DE-4DD4-87FB-78E07B53E7BF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6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397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398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ldNum" idx="7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C354006-C39F-4D53-8CE1-A2D03E217730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5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196D2917-25FD-4AA5-BEEC-03B496D7B069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5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06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07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dt" idx="73"/>
          </p:nvPr>
        </p:nvSpPr>
        <p:spPr>
          <a:xfrm>
            <a:off x="1219320" y="4629240"/>
            <a:ext cx="31237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 type="sldNum" idx="74"/>
          </p:nvPr>
        </p:nvSpPr>
        <p:spPr>
          <a:xfrm>
            <a:off x="533520" y="4629240"/>
            <a:ext cx="6854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98989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1C7117D-2009-49BA-AF20-3D1413664509}" type="slidenum">
              <a:rPr b="0" lang="en" sz="800" spc="-1" strike="noStrike">
                <a:solidFill>
                  <a:srgbClr val="898989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5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3A23BF1-BC15-4CA6-ADE1-C3E345E33092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3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14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15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5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D9239DCB-1A4F-43D1-A5C2-F595BFDED1A9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18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19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297720" y="424080"/>
            <a:ext cx="8530920" cy="39096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297720" y="978840"/>
            <a:ext cx="8530920" cy="3498120"/>
          </a:xfrm>
          <a:prstGeom prst="rect">
            <a:avLst/>
          </a:prstGeom>
          <a:noFill/>
          <a:ln w="0">
            <a:noFill/>
          </a:ln>
        </p:spPr>
        <p:txBody>
          <a:bodyPr lIns="51480" rIns="51480" tIns="51480" bIns="5148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5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5C869D61-672C-4F78-9197-77988C04FA6E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3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24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25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ldNum" idx="75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E67AE7A-F282-4D5C-BB47-1338B564A48A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5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D631F03-A12F-4912-A698-8DA58855EFB2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0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31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32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7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3D2E4A6-4C33-452E-96D5-36E4C905B393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5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1215753A-74F3-4618-9629-206C38F1C588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9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40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41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ldNum" idx="77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C5F6575-8178-4203-8156-76A9EF123B67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5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E53599C-A03E-4130-8C88-4BE2F3DF1876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6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47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48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49" name="PlaceHolder 1"/>
          <p:cNvSpPr>
            <a:spLocks noGrp="1"/>
          </p:cNvSpPr>
          <p:nvPr>
            <p:ph type="body"/>
          </p:nvPr>
        </p:nvSpPr>
        <p:spPr>
          <a:xfrm>
            <a:off x="695520" y="4505400"/>
            <a:ext cx="6162120" cy="245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b">
            <a:normAutofit fontScale="299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78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BDD5403-2F19-4510-9458-1CAEBFC479A2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5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292;p63"/>
          <p:cNvSpPr/>
          <p:nvPr/>
        </p:nvSpPr>
        <p:spPr>
          <a:xfrm>
            <a:off x="284760" y="4628520"/>
            <a:ext cx="1542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4CD2E4A-6384-46A0-9E23-9A9E033AB3EF}" type="slidenum">
              <a:rPr b="0" lang="en" sz="900" spc="-1" strike="noStrike">
                <a:solidFill>
                  <a:srgbClr val="0066a1"/>
                </a:solidFill>
                <a:latin typeface="Calibri"/>
                <a:ea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4" name="Google Shape;293;p63" descr=""/>
          <p:cNvPicPr/>
          <p:nvPr/>
        </p:nvPicPr>
        <p:blipFill>
          <a:blip r:embed="rId2"/>
          <a:stretch/>
        </p:blipFill>
        <p:spPr>
          <a:xfrm>
            <a:off x="8153280" y="4553640"/>
            <a:ext cx="858960" cy="266400"/>
          </a:xfrm>
          <a:prstGeom prst="rect">
            <a:avLst/>
          </a:prstGeom>
          <a:ln w="0">
            <a:noFill/>
          </a:ln>
        </p:spPr>
      </p:pic>
      <p:pic>
        <p:nvPicPr>
          <p:cNvPr id="455" name="Google Shape;294;p63" descr=""/>
          <p:cNvPicPr/>
          <p:nvPr/>
        </p:nvPicPr>
        <p:blipFill>
          <a:blip r:embed="rId3"/>
          <a:stretch/>
        </p:blipFill>
        <p:spPr>
          <a:xfrm>
            <a:off x="3600" y="0"/>
            <a:ext cx="9140040" cy="685080"/>
          </a:xfrm>
          <a:prstGeom prst="rect">
            <a:avLst/>
          </a:prstGeom>
          <a:ln w="0">
            <a:noFill/>
          </a:ln>
        </p:spPr>
      </p:pic>
      <p:pic>
        <p:nvPicPr>
          <p:cNvPr id="456" name="Google Shape;295;p63" descr=""/>
          <p:cNvPicPr/>
          <p:nvPr/>
        </p:nvPicPr>
        <p:blipFill>
          <a:blip r:embed="rId4"/>
          <a:stretch/>
        </p:blipFill>
        <p:spPr>
          <a:xfrm>
            <a:off x="0" y="4457880"/>
            <a:ext cx="9140040" cy="685080"/>
          </a:xfrm>
          <a:prstGeom prst="rect">
            <a:avLst/>
          </a:prstGeom>
          <a:ln w="0">
            <a:noFill/>
          </a:ln>
        </p:spPr>
      </p:pic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95520" y="137520"/>
            <a:ext cx="7960680" cy="488520"/>
          </a:xfrm>
          <a:prstGeom prst="rect">
            <a:avLst/>
          </a:prstGeom>
          <a:noFill/>
          <a:ln w="0">
            <a:noFill/>
          </a:ln>
        </p:spPr>
        <p:txBody>
          <a:bodyPr lIns="0" rIns="68400" tIns="34200" bIns="34200" anchor="b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Num" idx="79"/>
          </p:nvPr>
        </p:nvSpPr>
        <p:spPr>
          <a:xfrm>
            <a:off x="2880" y="4811760"/>
            <a:ext cx="845640" cy="27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30B4FB-52F9-4F8C-AF1A-3D1B209464ED}" type="slidenum">
              <a:rPr b="0" lang="en" sz="1000" spc="-1" strike="noStrike">
                <a:solidFill>
                  <a:schemeClr val="lt1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695160" y="775440"/>
            <a:ext cx="7961040" cy="3629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1693800" y="1071000"/>
            <a:ext cx="5756040" cy="973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4700" spc="-1" strike="noStrike">
                <a:solidFill>
                  <a:schemeClr val="lt1"/>
                </a:solidFill>
                <a:latin typeface="Verdana"/>
                <a:ea typeface="Verdana"/>
              </a:rPr>
              <a:t>D10 SystemsGenesys</a:t>
            </a:r>
            <a:endParaRPr b="0" lang="en-US" sz="4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323;p187"/>
          <p:cNvSpPr/>
          <p:nvPr/>
        </p:nvSpPr>
        <p:spPr>
          <a:xfrm>
            <a:off x="4486320" y="1943280"/>
            <a:ext cx="138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subTitle"/>
          </p:nvPr>
        </p:nvSpPr>
        <p:spPr>
          <a:xfrm>
            <a:off x="1314360" y="3245760"/>
            <a:ext cx="6839280" cy="1081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dk2"/>
                </a:solidFill>
                <a:latin typeface="Verdana"/>
                <a:ea typeface="Verdana"/>
              </a:rPr>
              <a:t>IEEE Solid-State Circuits Society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Verdana"/>
                <a:ea typeface="Verdana"/>
              </a:rPr>
              <a:t>Technical Committee on the Open Source Ecosystem (TC-OSE)</a:t>
            </a:r>
            <a:r>
              <a:rPr b="1" lang="en" sz="1700" spc="-1" strike="noStrike">
                <a:solidFill>
                  <a:schemeClr val="dk2"/>
                </a:solidFill>
                <a:latin typeface="Verdana"/>
                <a:ea typeface="Verdana"/>
              </a:rPr>
              <a:t>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title"/>
          </p:nvPr>
        </p:nvSpPr>
        <p:spPr>
          <a:xfrm>
            <a:off x="1713960" y="1943280"/>
            <a:ext cx="6039720" cy="497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300" spc="-1" strike="noStrike">
                <a:solidFill>
                  <a:schemeClr val="lt1"/>
                </a:solidFill>
                <a:latin typeface="Arial"/>
                <a:ea typeface="Arial"/>
              </a:rPr>
              <a:t>NoeSI - Secure Agentic Chip Design Platform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0" name="Google Shape;1330;p188"/>
          <p:cNvGraphicFramePr/>
          <p:nvPr/>
        </p:nvGraphicFramePr>
        <p:xfrm>
          <a:off x="1065240" y="1414440"/>
          <a:ext cx="7238520" cy="2177280"/>
        </p:xfrm>
        <a:graphic>
          <a:graphicData uri="http://schemas.openxmlformats.org/drawingml/2006/table">
            <a:tbl>
              <a:tblPr/>
              <a:tblGrid>
                <a:gridCol w="1809720"/>
                <a:gridCol w="1809720"/>
                <a:gridCol w="1809720"/>
                <a:gridCol w="1809720"/>
              </a:tblGrid>
              <a:tr h="2901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Affiliation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Education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276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Eleftherios Batzolis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Democritus University of Thrace</a:t>
                      </a: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 Department of Informatics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BSc, Mphil, PhD candidate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Team lead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276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Dr. Konstantinos Rantos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Democritus University of Thrace</a:t>
                      </a:r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, Department of Informatics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Phd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Team member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264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Dr. Georgios Drosatos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Democritus University of Thrace</a:t>
                      </a:r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, Department of Informatics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Phd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Team member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1" name="Google Shape;1331;p188"/>
          <p:cNvSpPr/>
          <p:nvPr/>
        </p:nvSpPr>
        <p:spPr>
          <a:xfrm>
            <a:off x="254880" y="43452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1337;p189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Google Shape;1338;p189"/>
          <p:cNvSpPr/>
          <p:nvPr/>
        </p:nvSpPr>
        <p:spPr>
          <a:xfrm>
            <a:off x="0" y="0"/>
            <a:ext cx="224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Google Shape;1339;p189" descr=""/>
          <p:cNvPicPr/>
          <p:nvPr/>
        </p:nvPicPr>
        <p:blipFill>
          <a:blip r:embed="rId1"/>
          <a:srcRect l="0" t="18384" r="0" b="6402"/>
          <a:stretch/>
        </p:blipFill>
        <p:spPr>
          <a:xfrm>
            <a:off x="97920" y="1191240"/>
            <a:ext cx="8947800" cy="3483720"/>
          </a:xfrm>
          <a:prstGeom prst="rect">
            <a:avLst/>
          </a:prstGeom>
          <a:ln w="0">
            <a:noFill/>
          </a:ln>
        </p:spPr>
      </p:pic>
      <p:sp>
        <p:nvSpPr>
          <p:cNvPr id="475" name="Google Shape;1340;p189"/>
          <p:cNvSpPr/>
          <p:nvPr/>
        </p:nvSpPr>
        <p:spPr>
          <a:xfrm>
            <a:off x="2664720" y="775440"/>
            <a:ext cx="374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0066a1"/>
                </a:solidFill>
                <a:latin typeface="Arial"/>
                <a:ea typeface="Arial"/>
              </a:rPr>
              <a:t>Chat -&gt; RTL -&gt; GDSII Workflow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1346;p190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1347;p190"/>
          <p:cNvSpPr/>
          <p:nvPr/>
        </p:nvSpPr>
        <p:spPr>
          <a:xfrm>
            <a:off x="0" y="0"/>
            <a:ext cx="224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8" name="Google Shape;1348;p190" descr=""/>
          <p:cNvPicPr/>
          <p:nvPr/>
        </p:nvPicPr>
        <p:blipFill>
          <a:blip r:embed="rId1"/>
          <a:srcRect l="0" t="21269" r="0" b="6996"/>
          <a:stretch/>
        </p:blipFill>
        <p:spPr>
          <a:xfrm>
            <a:off x="558000" y="975240"/>
            <a:ext cx="7955280" cy="3861720"/>
          </a:xfrm>
          <a:prstGeom prst="rect">
            <a:avLst/>
          </a:prstGeom>
          <a:ln w="0">
            <a:noFill/>
          </a:ln>
        </p:spPr>
      </p:pic>
      <p:sp>
        <p:nvSpPr>
          <p:cNvPr id="479" name="Google Shape;1349;p190"/>
          <p:cNvSpPr/>
          <p:nvPr/>
        </p:nvSpPr>
        <p:spPr>
          <a:xfrm>
            <a:off x="2698920" y="797400"/>
            <a:ext cx="374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0066a1"/>
                </a:solidFill>
                <a:latin typeface="Arial"/>
                <a:ea typeface="Arial"/>
              </a:rPr>
              <a:t>Applications of the Framework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1355;p191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1356;p191"/>
          <p:cNvSpPr/>
          <p:nvPr/>
        </p:nvSpPr>
        <p:spPr>
          <a:xfrm>
            <a:off x="0" y="0"/>
            <a:ext cx="224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Google Shape;1357;p191" descr=""/>
          <p:cNvPicPr/>
          <p:nvPr/>
        </p:nvPicPr>
        <p:blipFill>
          <a:blip r:embed="rId1"/>
          <a:srcRect l="0" t="18676" r="0" b="8041"/>
          <a:stretch/>
        </p:blipFill>
        <p:spPr>
          <a:xfrm>
            <a:off x="1266120" y="967320"/>
            <a:ext cx="6733080" cy="4086720"/>
          </a:xfrm>
          <a:prstGeom prst="rect">
            <a:avLst/>
          </a:prstGeom>
          <a:ln w="0">
            <a:noFill/>
          </a:ln>
        </p:spPr>
      </p:pic>
      <p:sp>
        <p:nvSpPr>
          <p:cNvPr id="483" name="Google Shape;1358;p191"/>
          <p:cNvSpPr/>
          <p:nvPr/>
        </p:nvSpPr>
        <p:spPr>
          <a:xfrm>
            <a:off x="3447000" y="737280"/>
            <a:ext cx="2249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0066a1"/>
                </a:solidFill>
                <a:latin typeface="Arial"/>
                <a:ea typeface="Arial"/>
              </a:rPr>
              <a:t>Design Framework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1364;p192"/>
          <p:cNvSpPr/>
          <p:nvPr/>
        </p:nvSpPr>
        <p:spPr>
          <a:xfrm>
            <a:off x="596520" y="885240"/>
            <a:ext cx="6390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rmAutofit fontScale="74983" lnSpcReduction="10000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000000"/>
                </a:solidFill>
                <a:latin typeface="Arial"/>
                <a:ea typeface="Arial"/>
              </a:rPr>
              <a:t>Key Improvement and Proposed Design Principles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365;p192"/>
          <p:cNvSpPr/>
          <p:nvPr/>
        </p:nvSpPr>
        <p:spPr>
          <a:xfrm>
            <a:off x="414360" y="1314720"/>
            <a:ext cx="8101440" cy="21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Key improvements include 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verification-gated progression,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structured artifact-based state management,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bounded self-repair loops with human escalation.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The design is guided by three principles: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reproducibility,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sandboxed execution,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f2328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200" spc="-1" strike="noStrik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</a:rPr>
              <a:t>and advancement based on tool-verified results rather than model self-assessment.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Google Shape;1366;p192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367;p192"/>
          <p:cNvSpPr/>
          <p:nvPr/>
        </p:nvSpPr>
        <p:spPr>
          <a:xfrm>
            <a:off x="0" y="0"/>
            <a:ext cx="224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Google Shape;1368;p192"/>
          <p:cNvSpPr/>
          <p:nvPr/>
        </p:nvSpPr>
        <p:spPr>
          <a:xfrm>
            <a:off x="438120" y="3569760"/>
            <a:ext cx="70844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520" rIns="65520" tIns="65520" bIns="65520" anchor="t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430" spc="-1" strike="noStrike">
                <a:solidFill>
                  <a:srgbClr val="000000"/>
                </a:solidFill>
                <a:latin typeface="Arial"/>
                <a:ea typeface="Arial"/>
              </a:rPr>
              <a:t>References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1369;p192"/>
          <p:cNvSpPr/>
          <p:nvPr/>
        </p:nvSpPr>
        <p:spPr>
          <a:xfrm>
            <a:off x="254880" y="3900600"/>
            <a:ext cx="8458200" cy="16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520" rIns="65520" tIns="65520" bIns="65520" anchor="t">
            <a:noAutofit/>
          </a:bodyPr>
          <a:p>
            <a:pPr marL="437040" indent="-279000">
              <a:lnSpc>
                <a:spcPct val="9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96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Y. Yang, Z. Gong, W. Huang, Q. Yang, Z. Zhou, Z. Huang, Y. Li, X. Gao, Q. Dai, B. Liu, K. Qiu, Y. Yang, D. Chen, X. Yang, and C. Luo, “SkillOpt: Executive Strategy for Self-Evolving Agent Skills,” arXiv preprint arXiv:2605.23904, 2026.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marL="437040" indent="-279000">
              <a:lnSpc>
                <a:spcPct val="9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96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X. Ning, K. Tieu, D. Fu, T. Wei, Z. Li, Y. Bei, J. Zou, M. Ai, Z. Liu, T.-W. Li, et al., “Code as Agent Harness,” arXiv preprint arXiv:2605.18747, 2026.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marL="437040" indent="-279000">
              <a:lnSpc>
                <a:spcPct val="9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96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T. Xu, H. Wen, and M. Li, “Adapting the Interface, Not the Model: Runtime Harness Adaptation for Deterministic LLM Agents,” arXiv preprint arXiv:2605.22166, 2026.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 marL="437040" indent="-279000">
              <a:lnSpc>
                <a:spcPct val="9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96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J. Wang, L. Guo, Z. Chen, Q. Guo, H. Zang, W. Shi, H. Ma, X. Xi, X. Li, W. Wang, and X. Cai, “HeavySkill: Heavy Thinking as the Inner Skill in Agentic Harness,” arXiv preprint arXiv:2605.02396, 2026.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</a:tabLst>
            </a:pP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1375;p193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1376;p193"/>
          <p:cNvSpPr/>
          <p:nvPr/>
        </p:nvSpPr>
        <p:spPr>
          <a:xfrm>
            <a:off x="0" y="0"/>
            <a:ext cx="224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Google Shape;1377;p193" descr=""/>
          <p:cNvPicPr/>
          <p:nvPr/>
        </p:nvPicPr>
        <p:blipFill>
          <a:blip r:embed="rId1"/>
          <a:srcRect l="0" t="7731" r="0" b="2347"/>
          <a:stretch/>
        </p:blipFill>
        <p:spPr>
          <a:xfrm>
            <a:off x="683280" y="844560"/>
            <a:ext cx="8205480" cy="424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1383;p194"/>
          <p:cNvSpPr/>
          <p:nvPr/>
        </p:nvSpPr>
        <p:spPr>
          <a:xfrm>
            <a:off x="254880" y="195840"/>
            <a:ext cx="863388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b">
            <a:normAutofit fontScale="9355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0066a1"/>
                </a:solidFill>
                <a:latin typeface="Arial"/>
                <a:ea typeface="Arial"/>
              </a:rPr>
              <a:t>SystemsGenesys - NoeSI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1384;p194"/>
          <p:cNvSpPr/>
          <p:nvPr/>
        </p:nvSpPr>
        <p:spPr>
          <a:xfrm>
            <a:off x="1349640" y="1534680"/>
            <a:ext cx="5752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CHAT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subTitle"/>
          </p:nvPr>
        </p:nvSpPr>
        <p:spPr>
          <a:xfrm>
            <a:off x="744480" y="862920"/>
            <a:ext cx="7584480" cy="96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i="1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Screenshots of the operational project prototype running in the REPL environment, demonstrating Technology Readiness Level (TRL) 4 functionality.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     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6" name="Google Shape;1386;p194" descr=""/>
          <p:cNvPicPr/>
          <p:nvPr/>
        </p:nvPicPr>
        <p:blipFill>
          <a:blip r:embed="rId1"/>
          <a:stretch/>
        </p:blipFill>
        <p:spPr>
          <a:xfrm>
            <a:off x="119880" y="1878840"/>
            <a:ext cx="3034800" cy="2572560"/>
          </a:xfrm>
          <a:prstGeom prst="rect">
            <a:avLst/>
          </a:prstGeom>
          <a:ln w="0">
            <a:noFill/>
          </a:ln>
        </p:spPr>
      </p:pic>
      <p:pic>
        <p:nvPicPr>
          <p:cNvPr id="497" name="Google Shape;1387;p194" descr=""/>
          <p:cNvPicPr/>
          <p:nvPr/>
        </p:nvPicPr>
        <p:blipFill>
          <a:blip r:embed="rId2"/>
          <a:stretch/>
        </p:blipFill>
        <p:spPr>
          <a:xfrm>
            <a:off x="6449400" y="1878840"/>
            <a:ext cx="2580480" cy="2572560"/>
          </a:xfrm>
          <a:prstGeom prst="rect">
            <a:avLst/>
          </a:prstGeom>
          <a:ln w="0">
            <a:noFill/>
          </a:ln>
        </p:spPr>
      </p:pic>
      <p:pic>
        <p:nvPicPr>
          <p:cNvPr id="498" name="Google Shape;1388;p194" descr=""/>
          <p:cNvPicPr/>
          <p:nvPr/>
        </p:nvPicPr>
        <p:blipFill>
          <a:blip r:embed="rId3"/>
          <a:stretch/>
        </p:blipFill>
        <p:spPr>
          <a:xfrm>
            <a:off x="3398760" y="1842480"/>
            <a:ext cx="2898360" cy="2608920"/>
          </a:xfrm>
          <a:prstGeom prst="rect">
            <a:avLst/>
          </a:prstGeom>
          <a:ln w="0">
            <a:noFill/>
          </a:ln>
        </p:spPr>
      </p:pic>
      <p:sp>
        <p:nvSpPr>
          <p:cNvPr id="499" name="Google Shape;1389;p194"/>
          <p:cNvSpPr/>
          <p:nvPr/>
        </p:nvSpPr>
        <p:spPr>
          <a:xfrm>
            <a:off x="4560480" y="1534680"/>
            <a:ext cx="5752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RTL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Google Shape;1390;p194"/>
          <p:cNvSpPr/>
          <p:nvPr/>
        </p:nvSpPr>
        <p:spPr>
          <a:xfrm>
            <a:off x="7452000" y="1534680"/>
            <a:ext cx="5752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GDSII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Google Shape;1391;p194"/>
          <p:cNvSpPr/>
          <p:nvPr/>
        </p:nvSpPr>
        <p:spPr>
          <a:xfrm>
            <a:off x="2855160" y="1623600"/>
            <a:ext cx="775080" cy="130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760" bIns="32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Google Shape;1392;p194"/>
          <p:cNvSpPr/>
          <p:nvPr/>
        </p:nvSpPr>
        <p:spPr>
          <a:xfrm>
            <a:off x="5906160" y="1623600"/>
            <a:ext cx="775080" cy="130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32760" bIns="32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IEEE_2010slogan_templat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2026-06-13T19:51:22Z</dcterms:modified>
  <cp:revision>1</cp:revision>
  <dc:subject/>
  <dc:title/>
</cp:coreProperties>
</file>